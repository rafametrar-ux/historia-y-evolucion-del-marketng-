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Evolución del Marketing</c:v>
                </c:pt>
              </c:strCache>
            </c:strRef>
          </c:tx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1900</c:v>
                </c:pt>
                <c:pt idx="1">
                  <c:v>1950</c:v>
                </c:pt>
                <c:pt idx="2">
                  <c:v>2000</c:v>
                </c:pt>
                <c:pt idx="3">
                  <c:v>2010</c:v>
                </c:pt>
                <c:pt idx="4">
                  <c:v>2015</c:v>
                </c:pt>
                <c:pt idx="5">
                  <c:v>2020</c:v>
                </c:pt>
                <c:pt idx="6">
                  <c:v>2026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6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BA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Historia y Evolución del Marketing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6 Generaciones de Estrategias Comerciales (1900-2026)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8BAE8"/>
          </a:solidFill>
          <a:ln>
            <a:solidFill>
              <a:srgbClr val="C8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📈 Evolución del Marketing a través del Tiempo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097280"/>
          <a:ext cx="7315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8BAE8"/>
          </a:solidFill>
          <a:ln>
            <a:solidFill>
              <a:srgbClr val="C8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⏰ Timeline de las Generaciones del Marketing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7315200" cy="91440"/>
          </a:xfrm>
          <a:prstGeom prst="rect">
            <a:avLst/>
          </a:prstGeom>
          <a:solidFill>
            <a:srgbClr val="6464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pezoid 4"/>
          <p:cNvSpPr/>
          <p:nvPr/>
        </p:nvSpPr>
        <p:spPr>
          <a:xfrm>
            <a:off x="822960" y="3017520"/>
            <a:ext cx="182880" cy="182880"/>
          </a:xfrm>
          <a:prstGeom prst="trapezoid">
            <a:avLst/>
          </a:prstGeom>
          <a:solidFill>
            <a:srgbClr val="F0D4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0D4B8"/>
                </a:solidFill>
              </a:defRPr>
            </a:pPr>
            <a:r>
              <a:t>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1900-1950</a:t>
            </a:r>
          </a:p>
        </p:txBody>
      </p:sp>
      <p:sp>
        <p:nvSpPr>
          <p:cNvPr id="8" name="Trapezoid 7"/>
          <p:cNvSpPr/>
          <p:nvPr/>
        </p:nvSpPr>
        <p:spPr>
          <a:xfrm>
            <a:off x="1920240" y="3017520"/>
            <a:ext cx="182880" cy="182880"/>
          </a:xfrm>
          <a:prstGeom prst="trapezoid">
            <a:avLst/>
          </a:prstGeom>
          <a:solidFill>
            <a:srgbClr val="B8E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16459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B8E0F0"/>
                </a:solidFill>
              </a:defRPr>
            </a:pPr>
            <a:r>
              <a:t>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114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1950-2000</a:t>
            </a:r>
          </a:p>
        </p:txBody>
      </p:sp>
      <p:sp>
        <p:nvSpPr>
          <p:cNvPr id="11" name="Trapezoid 10"/>
          <p:cNvSpPr/>
          <p:nvPr/>
        </p:nvSpPr>
        <p:spPr>
          <a:xfrm>
            <a:off x="3017520" y="3017520"/>
            <a:ext cx="182880" cy="182880"/>
          </a:xfrm>
          <a:prstGeom prst="trapezoid">
            <a:avLst/>
          </a:prstGeom>
          <a:solidFill>
            <a:srgbClr val="F0B8B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6459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0B8B0"/>
                </a:solidFill>
              </a:defRPr>
            </a:pPr>
            <a:r>
              <a:t>3.0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114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2000-2010</a:t>
            </a:r>
          </a:p>
        </p:txBody>
      </p:sp>
      <p:sp>
        <p:nvSpPr>
          <p:cNvPr id="14" name="Trapezoid 13"/>
          <p:cNvSpPr/>
          <p:nvPr/>
        </p:nvSpPr>
        <p:spPr>
          <a:xfrm>
            <a:off x="4114800" y="3017520"/>
            <a:ext cx="182880" cy="182880"/>
          </a:xfrm>
          <a:prstGeom prst="trapezoid">
            <a:avLst/>
          </a:prstGeom>
          <a:solidFill>
            <a:srgbClr val="D8BAE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16459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8BAE8"/>
                </a:solidFill>
              </a:defRPr>
            </a:pPr>
            <a:r>
              <a:t>4.0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114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2010-2015</a:t>
            </a:r>
          </a:p>
        </p:txBody>
      </p:sp>
      <p:sp>
        <p:nvSpPr>
          <p:cNvPr id="17" name="Trapezoid 16"/>
          <p:cNvSpPr/>
          <p:nvPr/>
        </p:nvSpPr>
        <p:spPr>
          <a:xfrm>
            <a:off x="5212080" y="3017520"/>
            <a:ext cx="182880" cy="182880"/>
          </a:xfrm>
          <a:prstGeom prst="trapezoid">
            <a:avLst/>
          </a:prstGeom>
          <a:solidFill>
            <a:srgbClr val="A8E8D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16459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8E8D8"/>
                </a:solidFill>
              </a:defRPr>
            </a:pPr>
            <a:r>
              <a:t>5.0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114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2015-2020</a:t>
            </a:r>
          </a:p>
        </p:txBody>
      </p:sp>
      <p:sp>
        <p:nvSpPr>
          <p:cNvPr id="20" name="Trapezoid 19"/>
          <p:cNvSpPr/>
          <p:nvPr/>
        </p:nvSpPr>
        <p:spPr>
          <a:xfrm>
            <a:off x="6309360" y="3017520"/>
            <a:ext cx="182880" cy="182880"/>
          </a:xfrm>
          <a:prstGeom prst="trapezoid">
            <a:avLst/>
          </a:prstGeom>
          <a:solidFill>
            <a:srgbClr val="B8E8B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6459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B8E8B0"/>
                </a:solidFill>
              </a:defRPr>
            </a:pPr>
            <a:r>
              <a:t>6.0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4114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2020-2026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8BAE8"/>
          </a:solidFill>
          <a:ln>
            <a:solidFill>
              <a:srgbClr val="C8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🔄 Marketing vs Ventas: Diferencia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b="1" sz="1800"/>
            </a:pPr>
            <a:r>
              <a:t>MARKETING:</a:t>
            </a:r>
          </a:p>
          <a:p>
            <a:pPr>
              <a:spcAft>
                <a:spcPts val="400"/>
              </a:spcAft>
              <a:defRPr sz="1600"/>
            </a:pPr>
            <a:r>
              <a:t>★ Concepto: Crear, comunicar y entregar valor</a:t>
            </a:r>
          </a:p>
          <a:p>
            <a:pPr>
              <a:spcAft>
                <a:spcPts val="400"/>
              </a:spcAft>
              <a:defRPr sz="1600"/>
            </a:pPr>
            <a:r>
              <a:t>★ Horizonte: Semanas a años (estratégico)</a:t>
            </a:r>
          </a:p>
          <a:p>
            <a:pPr>
              <a:spcAft>
                <a:spcPts val="400"/>
              </a:spcAft>
              <a:defRPr sz="1600"/>
            </a:pPr>
            <a:r>
              <a:t>★ Métrica: Brand awareness, Lead generation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Bef>
                <a:spcPts val="800"/>
              </a:spcBef>
              <a:defRPr b="1" sz="1800"/>
            </a:pPr>
            <a:r>
              <a:t>VENTAS:</a:t>
            </a:r>
          </a:p>
          <a:p>
            <a:pPr>
              <a:spcAft>
                <a:spcPts val="400"/>
              </a:spcAft>
              <a:defRPr sz="1600"/>
            </a:pPr>
            <a:r>
              <a:t>★ Concepto: Convertir oportunidades en compras</a:t>
            </a:r>
          </a:p>
          <a:p>
            <a:pPr>
              <a:spcAft>
                <a:spcPts val="400"/>
              </a:spcAft>
              <a:defRPr sz="1600"/>
            </a:pPr>
            <a:r>
              <a:t>★ Horizonte: Días a semanas (táctico)</a:t>
            </a:r>
          </a:p>
          <a:p>
            <a:pPr>
              <a:spcAft>
                <a:spcPts val="400"/>
              </a:spcAft>
              <a:defRPr sz="1600"/>
            </a:pPr>
            <a:r>
              <a:t>★ Métrica: % de conversión, Ticket promedio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8BAE8"/>
          </a:solidFill>
          <a:ln>
            <a:solidFill>
              <a:srgbClr val="C8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Marketing vs Ventas: Clasificación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b="1" sz="1800"/>
            </a:pPr>
            <a:r>
              <a:t>TIPOS DE MARKETING:</a:t>
            </a:r>
          </a:p>
          <a:p>
            <a:pPr>
              <a:spcAft>
                <a:spcPts val="400"/>
              </a:spcAft>
              <a:defRPr sz="1600"/>
            </a:pPr>
            <a:r>
              <a:t>• Digital: SEO, SEM, Social Media, Email</a:t>
            </a:r>
          </a:p>
          <a:p>
            <a:pPr>
              <a:spcAft>
                <a:spcPts val="400"/>
              </a:spcAft>
              <a:defRPr sz="1600"/>
            </a:pPr>
            <a:r>
              <a:t>• Tradicional: TV, Radio, Prensa</a:t>
            </a:r>
          </a:p>
          <a:p>
            <a:pPr>
              <a:spcAft>
                <a:spcPts val="400"/>
              </a:spcAft>
              <a:defRPr sz="1600"/>
            </a:pPr>
            <a:r>
              <a:t>• Influencia: Influencers, Embajadores</a:t>
            </a:r>
          </a:p>
          <a:p>
            <a:pPr>
              <a:spcAft>
                <a:spcPts val="400"/>
              </a:spcAft>
              <a:defRPr sz="1600"/>
            </a:pPr>
            <a:r>
              <a:t>• Contenido: Blogs, Videos, Podcasts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Bef>
                <a:spcPts val="800"/>
              </a:spcBef>
              <a:defRPr b="1" sz="1800"/>
            </a:pPr>
            <a:r>
              <a:t>TIPOS DE VENTAS:</a:t>
            </a:r>
          </a:p>
          <a:p>
            <a:pPr>
              <a:spcAft>
                <a:spcPts val="400"/>
              </a:spcAft>
              <a:defRPr sz="1600"/>
            </a:pPr>
            <a:r>
              <a:t>• Directa: B2C, Tiendas, Vendedores</a:t>
            </a:r>
          </a:p>
          <a:p>
            <a:pPr>
              <a:spcAft>
                <a:spcPts val="400"/>
              </a:spcAft>
              <a:defRPr sz="1600"/>
            </a:pPr>
            <a:r>
              <a:t>• Corporativa: B2B, Account Managers</a:t>
            </a:r>
          </a:p>
          <a:p>
            <a:pPr>
              <a:spcAft>
                <a:spcPts val="400"/>
              </a:spcAft>
              <a:defRPr sz="1600"/>
            </a:pPr>
            <a:r>
              <a:t>• Online: E-commerce, Chatbots</a:t>
            </a:r>
          </a:p>
          <a:p>
            <a:pPr>
              <a:spcAft>
                <a:spcPts val="400"/>
              </a:spcAft>
              <a:defRPr sz="1600"/>
            </a:pPr>
            <a:r>
              <a:t>• Automatizada: AI Assistants, CRM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8BAE8"/>
          </a:solidFill>
          <a:ln>
            <a:solidFill>
              <a:srgbClr val="C8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En Marketing 6.0: La Convergencia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b="1" sz="1800"/>
            </a:pPr>
            <a:r>
              <a:t>Data + Decisión Smart</a:t>
            </a:r>
          </a:p>
          <a:p>
            <a:pPr>
              <a:spcAft>
                <a:spcPts val="400"/>
              </a:spcAft>
              <a:defRPr sz="1600"/>
            </a:pPr>
            <a:r>
              <a:t>Marketing proporciona insights, Ventas cierra con inteligencia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Bef>
                <a:spcPts val="800"/>
              </a:spcBef>
              <a:defRPr b="1" sz="1800"/>
            </a:pPr>
            <a:r>
              <a:t>Automatización Inteligente</a:t>
            </a:r>
          </a:p>
          <a:p>
            <a:pPr>
              <a:spcAft>
                <a:spcPts val="400"/>
              </a:spcAft>
              <a:defRPr sz="1600"/>
            </a:pPr>
            <a:r>
              <a:t>Bots califican leads, cierran tratos sin intervención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Bef>
                <a:spcPts val="800"/>
              </a:spcBef>
              <a:defRPr b="1" sz="1800"/>
            </a:pPr>
            <a:r>
              <a:t>Experiencia Unificada</a:t>
            </a:r>
          </a:p>
          <a:p>
            <a:pPr>
              <a:spcAft>
                <a:spcPts val="400"/>
              </a:spcAft>
              <a:defRPr sz="1600"/>
            </a:pPr>
            <a:r>
              <a:t>El cliente vive un flujo continuo awareness → compra → lealtad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Bef>
                <a:spcPts val="800"/>
              </a:spcBef>
              <a:defRPr b="1" sz="1800"/>
            </a:pPr>
            <a:r>
              <a:t>Métricas Integradas</a:t>
            </a:r>
          </a:p>
          <a:p>
            <a:pPr>
              <a:spcAft>
                <a:spcPts val="400"/>
              </a:spcAft>
              <a:defRPr sz="1600"/>
            </a:pPr>
            <a:r>
              <a:t>ROI se calcula en el journey completo, no por departamento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0D4B8"/>
          </a:solidFill>
          <a:ln>
            <a:solidFill>
              <a:srgbClr val="F0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Marketing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0D4B8"/>
                </a:solidFill>
              </a:defRPr>
            </a:pPr>
            <a:r>
              <a:t>Era de Producción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i="1">
                <a:solidFill>
                  <a:srgbClr val="969696"/>
                </a:solidFill>
              </a:defRPr>
            </a:pPr>
            <a:r>
              <a:t>1900-1950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D4B8"/>
          </a:solidFill>
          <a:ln>
            <a:solidFill>
              <a:srgbClr val="F0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Marketing 1.0 - Era de Producción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600"/>
            </a:pPr>
            <a:r>
              <a:t>Concepto Principal</a:t>
            </a:r>
          </a:p>
          <a:p>
            <a:pPr>
              <a:spcBef>
                <a:spcPts val="800"/>
              </a:spcBef>
              <a:defRPr b="1" sz="1800"/>
            </a:pPr>
            <a:r>
              <a:t>Enfoque en la producción masiva</a:t>
            </a:r>
          </a:p>
          <a:p>
            <a:pPr>
              <a:spcAft>
                <a:spcPts val="400"/>
              </a:spcAft>
              <a:defRPr sz="1600"/>
            </a:pPr>
            <a:r>
              <a:t>Bajo poder del consumidor</a:t>
            </a:r>
          </a:p>
          <a:p>
            <a:pPr>
              <a:spcAft>
                <a:spcPts val="400"/>
              </a:spcAft>
              <a:defRPr sz="1600"/>
            </a:pPr>
            <a:r>
              <a:t>Publicidad unidireccional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Características Clave</a:t>
            </a:r>
          </a:p>
          <a:p>
            <a:pPr>
              <a:spcBef>
                <a:spcPts val="800"/>
              </a:spcBef>
              <a:defRPr b="1" sz="1800"/>
            </a:pPr>
            <a:r>
              <a:t>Canales Principales:</a:t>
            </a:r>
          </a:p>
          <a:p>
            <a:pPr>
              <a:spcAft>
                <a:spcPts val="400"/>
              </a:spcAft>
              <a:defRPr sz="1600"/>
            </a:pPr>
            <a:r>
              <a:t>Radio, Periódicos, Carteles publicitarios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Ejemplos: Ford, Coca-Cola, Nestlé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E0F0"/>
          </a:solidFill>
          <a:ln>
            <a:solidFill>
              <a:srgbClr val="B8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Marketing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B8E0F0"/>
                </a:solidFill>
              </a:defRPr>
            </a:pPr>
            <a:r>
              <a:t>Era Digital Temprana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i="1">
                <a:solidFill>
                  <a:srgbClr val="969696"/>
                </a:solidFill>
              </a:defRPr>
            </a:pPr>
            <a:r>
              <a:t>1950-2000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8E0F0"/>
          </a:solidFill>
          <a:ln>
            <a:solidFill>
              <a:srgbClr val="B8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Marketing 2.0 - Era Digital Temprana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600"/>
            </a:pPr>
            <a:r>
              <a:t>Cambio de enfoque al consumidor</a:t>
            </a:r>
          </a:p>
          <a:p>
            <a:pPr>
              <a:spcBef>
                <a:spcPts val="800"/>
              </a:spcBef>
              <a:defRPr b="1" sz="1800"/>
            </a:pPr>
            <a:r>
              <a:t>Segmentación de mercados</a:t>
            </a:r>
          </a:p>
          <a:p>
            <a:pPr>
              <a:spcAft>
                <a:spcPts val="400"/>
              </a:spcAft>
              <a:defRPr sz="1600"/>
            </a:pPr>
            <a:r>
              <a:t>Personalización relativa</a:t>
            </a:r>
          </a:p>
          <a:p>
            <a:pPr>
              <a:spcAft>
                <a:spcPts val="400"/>
              </a:spcAft>
              <a:defRPr sz="1600"/>
            </a:pPr>
            <a:r>
              <a:t>Construcción de lealtad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Canales Principales</a:t>
            </a:r>
          </a:p>
          <a:p>
            <a:pPr>
              <a:spcBef>
                <a:spcPts val="800"/>
              </a:spcBef>
              <a:defRPr b="1" sz="1800"/>
            </a:pPr>
            <a:r>
              <a:t>Televisión, Internet temprano</a:t>
            </a:r>
          </a:p>
          <a:p>
            <a:pPr>
              <a:spcAft>
                <a:spcPts val="400"/>
              </a:spcAft>
              <a:defRPr sz="1600"/>
            </a:pPr>
            <a:r>
              <a:t>Email marketing, Tiendas especializadas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Ejemplos: Amazon, McDonald's, Dell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0B8B0"/>
          </a:solidFill>
          <a:ln>
            <a:solidFill>
              <a:srgbClr val="F0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Marketing 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0B8B0"/>
                </a:solidFill>
              </a:defRPr>
            </a:pPr>
            <a:r>
              <a:t>Era de Valores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i="1">
                <a:solidFill>
                  <a:srgbClr val="969696"/>
                </a:solidFill>
              </a:defRPr>
            </a:pPr>
            <a:r>
              <a:t>2000-2010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B8B0"/>
          </a:solidFill>
          <a:ln>
            <a:solidFill>
              <a:srgbClr val="F0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Marketing 3.0 - Era de Valores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600"/>
            </a:pPr>
            <a:r>
              <a:t>Marketing con propósito y valores</a:t>
            </a:r>
          </a:p>
          <a:p>
            <a:pPr>
              <a:spcBef>
                <a:spcPts val="800"/>
              </a:spcBef>
              <a:defRPr b="1" sz="1800"/>
            </a:pPr>
            <a:r>
              <a:t>Responsabilidad social</a:t>
            </a:r>
          </a:p>
          <a:p>
            <a:pPr>
              <a:spcAft>
                <a:spcPts val="400"/>
              </a:spcAft>
              <a:defRPr sz="1600"/>
            </a:pPr>
            <a:r>
              <a:t>Sostenibilidad ambiental</a:t>
            </a:r>
          </a:p>
          <a:p>
            <a:pPr>
              <a:spcAft>
                <a:spcPts val="400"/>
              </a:spcAft>
              <a:defRPr sz="1600"/>
            </a:pPr>
            <a:r>
              <a:t>Autenticidad y transparencia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Canales Principales</a:t>
            </a:r>
          </a:p>
          <a:p>
            <a:pPr>
              <a:spcBef>
                <a:spcPts val="800"/>
              </a:spcBef>
              <a:defRPr b="1" sz="1800"/>
            </a:pPr>
            <a:r>
              <a:t>Redes sociales, Blogs, Marketing viral</a:t>
            </a:r>
          </a:p>
          <a:p>
            <a:pPr>
              <a:spcAft>
                <a:spcPts val="400"/>
              </a:spcAft>
              <a:defRPr sz="1600"/>
            </a:pPr>
            <a:r>
              <a:t>Partnerships con ONGs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Ejemplos: TOMS Shoes, Patagonia, Ben &amp; Jerry's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8BAE8"/>
          </a:solidFill>
          <a:ln>
            <a:solidFill>
              <a:srgbClr val="D8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Marketing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D8BAE8"/>
                </a:solidFill>
              </a:defRPr>
            </a:pPr>
            <a:r>
              <a:t>Era Omnicanal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i="1">
                <a:solidFill>
                  <a:srgbClr val="969696"/>
                </a:solidFill>
              </a:defRPr>
            </a:pPr>
            <a:r>
              <a:t>2010-2015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8BAE8"/>
          </a:solidFill>
          <a:ln>
            <a:solidFill>
              <a:srgbClr val="D8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Marketing 4.0 - Era Omnicanal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600"/>
            </a:pPr>
            <a:r>
              <a:t>Integración online + offline</a:t>
            </a:r>
          </a:p>
          <a:p>
            <a:pPr>
              <a:spcBef>
                <a:spcPts val="800"/>
              </a:spcBef>
              <a:defRPr b="1" sz="1800"/>
            </a:pPr>
            <a:r>
              <a:t>Experiencia del consumidor</a:t>
            </a:r>
          </a:p>
          <a:p>
            <a:pPr>
              <a:spcAft>
                <a:spcPts val="400"/>
              </a:spcAft>
              <a:defRPr sz="1600"/>
            </a:pPr>
            <a:r>
              <a:t>Big Data y analítica</a:t>
            </a:r>
          </a:p>
          <a:p>
            <a:pPr>
              <a:spcAft>
                <a:spcPts val="400"/>
              </a:spcAft>
              <a:defRPr sz="1600"/>
            </a:pPr>
            <a:r>
              <a:t>Marketing en tiempo real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Canales Principales</a:t>
            </a:r>
          </a:p>
          <a:p>
            <a:pPr>
              <a:spcBef>
                <a:spcPts val="800"/>
              </a:spcBef>
              <a:defRPr b="1" sz="1800"/>
            </a:pPr>
            <a:r>
              <a:t>E-commerce, Mobile, Social media</a:t>
            </a:r>
          </a:p>
          <a:p>
            <a:pPr>
              <a:spcAft>
                <a:spcPts val="400"/>
              </a:spcAft>
              <a:defRPr sz="1600"/>
            </a:pPr>
            <a:r>
              <a:t>Marketing automation, Tiendas conectadas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Ejemplos: Nike, Starbucks, Sephora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8E8D8"/>
          </a:solidFill>
          <a:ln>
            <a:solidFill>
              <a:srgbClr val="A8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Marketing 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A8E8D8"/>
                </a:solidFill>
              </a:defRPr>
            </a:pPr>
            <a:r>
              <a:t>Era de IA y Automación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i="1">
                <a:solidFill>
                  <a:srgbClr val="969696"/>
                </a:solidFill>
              </a:defRPr>
            </a:pPr>
            <a:r>
              <a:t>2015-2020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A8E8D8"/>
          </a:solidFill>
          <a:ln>
            <a:solidFill>
              <a:srgbClr val="A8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Marketing 5.0 - Era de IA y Automación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600"/>
            </a:pPr>
            <a:r>
              <a:t>Inteligencia artificial y Machine Learning</a:t>
            </a:r>
          </a:p>
          <a:p>
            <a:pPr>
              <a:spcBef>
                <a:spcPts val="800"/>
              </a:spcBef>
              <a:defRPr b="1" sz="1800"/>
            </a:pPr>
            <a:r>
              <a:t>Personalización 1-a-1 a escala</a:t>
            </a:r>
          </a:p>
          <a:p>
            <a:pPr>
              <a:spcAft>
                <a:spcPts val="400"/>
              </a:spcAft>
              <a:defRPr sz="1600"/>
            </a:pPr>
            <a:r>
              <a:t>Automatización inteligente</a:t>
            </a:r>
          </a:p>
          <a:p>
            <a:pPr>
              <a:spcAft>
                <a:spcPts val="400"/>
              </a:spcAft>
              <a:defRPr sz="1600"/>
            </a:pPr>
            <a:r>
              <a:t>Marketing predictivo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Canales Principales</a:t>
            </a:r>
          </a:p>
          <a:p>
            <a:pPr>
              <a:spcBef>
                <a:spcPts val="800"/>
              </a:spcBef>
              <a:defRPr b="1" sz="1800"/>
            </a:pPr>
            <a:r>
              <a:t>Chatbots, Publicidad programática</a:t>
            </a:r>
          </a:p>
          <a:p>
            <a:pPr>
              <a:spcAft>
                <a:spcPts val="400"/>
              </a:spcAft>
              <a:defRPr sz="1600"/>
            </a:pPr>
            <a:r>
              <a:t>Recomendación inteligente, Voice commerce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Ejemplos: Netflix, Amazon Alexa, Google Ads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E8B0"/>
          </a:solidFill>
          <a:ln>
            <a:solidFill>
              <a:srgbClr val="B8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Marketing 6.0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B8E8B0"/>
                </a:solidFill>
              </a:defRPr>
            </a:pPr>
            <a:r>
              <a:t>Era de Sostenibilidad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i="1">
                <a:solidFill>
                  <a:srgbClr val="969696"/>
                </a:solidFill>
              </a:defRPr>
            </a:pPr>
            <a:r>
              <a:t>2020-2026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8E8B0"/>
          </a:solidFill>
          <a:ln>
            <a:solidFill>
              <a:srgbClr val="B8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Marketing 6.0 - Era de Sostenibilidad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600"/>
            </a:pPr>
            <a:r>
              <a:t>Tecnología + Humanidad + Sostenibilidad</a:t>
            </a:r>
          </a:p>
          <a:p>
            <a:pPr>
              <a:spcBef>
                <a:spcPts val="800"/>
              </a:spcBef>
              <a:defRPr b="1" sz="1800"/>
            </a:pPr>
            <a:r>
              <a:t>Economía circular</a:t>
            </a:r>
          </a:p>
          <a:p>
            <a:pPr>
              <a:spcAft>
                <a:spcPts val="400"/>
              </a:spcAft>
              <a:defRPr sz="1600"/>
            </a:pPr>
            <a:r>
              <a:t>Marketing ético y transparente</a:t>
            </a:r>
          </a:p>
          <a:p>
            <a:pPr>
              <a:spcAft>
                <a:spcPts val="400"/>
              </a:spcAft>
              <a:defRPr sz="1600"/>
            </a:pPr>
            <a:r>
              <a:t>Impacto social y ambiental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Canales Principales</a:t>
            </a:r>
          </a:p>
          <a:p>
            <a:pPr>
              <a:spcBef>
                <a:spcPts val="800"/>
              </a:spcBef>
              <a:defRPr b="1" sz="1800"/>
            </a:pPr>
            <a:r>
              <a:t>Comunidades digitales, Metaverso</a:t>
            </a:r>
          </a:p>
          <a:p>
            <a:pPr>
              <a:spcAft>
                <a:spcPts val="400"/>
              </a:spcAft>
              <a:defRPr sz="1600"/>
            </a:pPr>
            <a:r>
              <a:t>Live streaming, Blockchain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Ejemplos: Unilever, Decathlon, Airbnb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8BAE8"/>
          </a:solidFill>
          <a:ln>
            <a:solidFill>
              <a:srgbClr val="C8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🔄 Resumen: Diferencias Clave entre Marketing y Ventas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b="1" sz="1800"/>
            </a:pPr>
            <a:r>
              <a:t>MARKETING (Crear Deseo):</a:t>
            </a:r>
          </a:p>
          <a:p>
            <a:pPr>
              <a:spcAft>
                <a:spcPts val="400"/>
              </a:spcAft>
              <a:defRPr sz="1600"/>
            </a:pPr>
            <a:r>
              <a:t>• Enfoque: Largo plazo, estratégico</a:t>
            </a:r>
          </a:p>
          <a:p>
            <a:pPr>
              <a:spcAft>
                <a:spcPts val="400"/>
              </a:spcAft>
              <a:defRPr sz="1600"/>
            </a:pPr>
            <a:r>
              <a:t>• Objetivo: Generar leads y awareness</a:t>
            </a:r>
          </a:p>
          <a:p>
            <a:pPr>
              <a:spcAft>
                <a:spcPts val="400"/>
              </a:spcAft>
              <a:defRPr sz="1600"/>
            </a:pPr>
            <a:r>
              <a:t>• Métricas: ROI de marca, engagement</a:t>
            </a:r>
          </a:p>
          <a:p>
            <a:pPr>
              <a:spcAft>
                <a:spcPts val="400"/>
              </a:spcAft>
              <a:defRPr sz="1600"/>
            </a:pPr>
            <a:r>
              <a:t>• Horizonte: Semanas a años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Bef>
                <a:spcPts val="800"/>
              </a:spcBef>
              <a:defRPr b="1" sz="1800"/>
            </a:pPr>
            <a:r>
              <a:t>VENTAS (Cerrar Negocio):</a:t>
            </a:r>
          </a:p>
          <a:p>
            <a:pPr>
              <a:spcAft>
                <a:spcPts val="400"/>
              </a:spcAft>
              <a:defRPr sz="1600"/>
            </a:pPr>
            <a:r>
              <a:t>• Enfoque: Corto plazo, táctico</a:t>
            </a:r>
          </a:p>
          <a:p>
            <a:pPr>
              <a:spcAft>
                <a:spcPts val="400"/>
              </a:spcAft>
              <a:defRPr sz="1600"/>
            </a:pPr>
            <a:r>
              <a:t>• Objetivo: Convertir leads en compras</a:t>
            </a:r>
          </a:p>
          <a:p>
            <a:pPr>
              <a:spcAft>
                <a:spcPts val="400"/>
              </a:spcAft>
              <a:defRPr sz="1600"/>
            </a:pPr>
            <a:r>
              <a:t>• Métricas: Conversión, revenue</a:t>
            </a:r>
          </a:p>
          <a:p>
            <a:pPr>
              <a:spcAft>
                <a:spcPts val="400"/>
              </a:spcAft>
              <a:defRPr sz="1600"/>
            </a:pPr>
            <a:r>
              <a:t>• Horizonte: Días a semanas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Bef>
                <a:spcPts val="800"/>
              </a:spcBef>
              <a:defRPr b="1" sz="1800"/>
            </a:pPr>
            <a:r>
              <a:t>En Marketing 6.0: Convergencia</a:t>
            </a:r>
          </a:p>
          <a:p>
            <a:pPr>
              <a:spcAft>
                <a:spcPts val="400"/>
              </a:spcAft>
              <a:defRPr sz="1600"/>
            </a:pPr>
            <a:r>
              <a:t>Ambos departamentos colaboran para una experiencia unificada del cliente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D4B8"/>
          </a:solidFill>
          <a:ln>
            <a:solidFill>
              <a:srgbClr val="F0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Conclusiones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b="1" sz="1800"/>
            </a:pPr>
            <a:r>
              <a:t>1. Evolución Constante</a:t>
            </a:r>
          </a:p>
          <a:p>
            <a:pPr>
              <a:spcAft>
                <a:spcPts val="400"/>
              </a:spcAft>
              <a:defRPr sz="1600"/>
            </a:pPr>
            <a:r>
              <a:t>El marketing evolucionó desde enfoque en producción a sostenibilidad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Bef>
                <a:spcPts val="800"/>
              </a:spcBef>
              <a:defRPr b="1" sz="1800"/>
            </a:pPr>
            <a:r>
              <a:t>2. Tecnología + Humanidad</a:t>
            </a:r>
          </a:p>
          <a:p>
            <a:pPr>
              <a:spcAft>
                <a:spcPts val="400"/>
              </a:spcAft>
              <a:defRPr sz="1600"/>
            </a:pPr>
            <a:r>
              <a:t>La mejor estrategia equilibra automatización con conexión genuina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Bef>
                <a:spcPts val="800"/>
              </a:spcBef>
              <a:defRPr b="1" sz="1800"/>
            </a:pPr>
            <a:r>
              <a:t>3. El Poder está en el Consumidor</a:t>
            </a:r>
          </a:p>
          <a:p>
            <a:pPr>
              <a:spcAft>
                <a:spcPts val="400"/>
              </a:spcAft>
              <a:defRPr sz="1600"/>
            </a:pPr>
            <a:r>
              <a:t>Las empresas ahora deben adaptarse a las demandas del mercado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Bef>
                <a:spcPts val="800"/>
              </a:spcBef>
              <a:defRPr b="1" sz="1800"/>
            </a:pPr>
            <a:r>
              <a:t>4. Ética y Sostenibilidad son Competitivas</a:t>
            </a:r>
          </a:p>
          <a:p>
            <a:pPr>
              <a:spcAft>
                <a:spcPts val="400"/>
              </a:spcAft>
              <a:defRPr sz="1600"/>
            </a:pPr>
            <a:r>
              <a:t>El futuro del marketing es responsable y transparente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